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90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iwithjen.com/courses/" TargetMode="External"/><Relationship Id="rId3" Type="http://schemas.openxmlformats.org/officeDocument/2006/relationships/hyperlink" Target="https://aiwithjen.com/speaking/" TargetMode="External"/><Relationship Id="rId4" Type="http://schemas.openxmlformats.org/officeDocument/2006/relationships/hyperlink" Target="https://aiwithjen.com/work/" TargetMode="External"/><Relationship Id="rId5" Type="http://schemas.openxmlformats.org/officeDocument/2006/relationships/hyperlink" Target="https://aiwithjen.com/about/" TargetMode="External"/><Relationship Id="rId6" Type="http://schemas.openxmlformats.org/officeDocument/2006/relationships/hyperlink" Target="https://www.linkedin.com/in/jenniferkelleman/recent-activity/all/" TargetMode="External"/><Relationship Id="rId7" Type="http://schemas.openxmlformats.org/officeDocument/2006/relationships/hyperlink" Target="https://www.linkedin.com/posts/jenniferkelleman_microsoftfabric-dataanalytics-ai-activity-7391467946100924417-hte7" TargetMode="External"/><Relationship Id="rId8" Type="http://schemas.openxmlformats.org/officeDocument/2006/relationships/hyperlink" Target="https://www.linkedin.com/posts/jenniferkelleman_dsxhackathon-datascience-uxdesign-activity-7389058385226403840-llT8" TargetMode="External"/><Relationship Id="rId9" Type="http://schemas.openxmlformats.org/officeDocument/2006/relationships/hyperlink" Target="https://event.fourwaves.com/uxpabos2026/pages" TargetMode="External"/><Relationship Id="rId10" Type="http://schemas.openxmlformats.org/officeDocument/2006/relationships/hyperlink" Target="https://www.linkedin.com/posts/jenniferkelleman_join-us-on-tuesday-oct-7-at-noon-et-to-activity-7381342295175974912-sUHb" TargetMode="External"/><Relationship Id="rId11" Type="http://schemas.openxmlformats.org/officeDocument/2006/relationships/hyperlink" Target="https://azure.microsoft.com/en-us/free/students" TargetMode="External"/><Relationship Id="rId12" Type="http://schemas.openxmlformats.org/officeDocument/2006/relationships/hyperlink" Target="https://www.linkedin.com/posts/jenniferkelleman_pyladiesboston-github-womenintech-activity-7378906837468999681-bq3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8288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RUCD 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AI for Human-Centered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100"/>
                </a:solidFill>
                <a:latin typeface="Segoe UI"/>
              </a:defRPr>
            </a:pPr>
            <a:r>
              <a:t>Course Development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Jen Kelleman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Segoe UI"/>
              </a:defRPr>
            </a:pPr>
            <a:r>
              <a:rPr dirty="0"/>
              <a:t>Principal Content Designer, Microsoft</a:t>
            </a:r>
            <a:r>
              <a:rPr lang="en-US" dirty="0"/>
              <a:t> | Data Engineering &amp; AI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Segoe UI"/>
              </a:defRPr>
            </a:pPr>
            <a:r>
              <a:t>Brandeis University  |  Graduate Professional Studies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Who I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478"/>
                </a:solidFill>
                <a:latin typeface="Segoe UI"/>
              </a:defRPr>
            </a:pPr>
            <a:r>
              <a:t>I'm not coming to this from academia.</a:t>
            </a:r>
            <a:br/>
            <a:r>
              <a:t>I'm coming from the design floor.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68880"/>
            <a:ext cx="1371600" cy="508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Segoe UI"/>
              </a:rPr>
              <a:t>Current role:</a:t>
            </a:r>
            <a:r>
              <a:rPr sz="1500">
                <a:solidFill>
                  <a:srgbClr val="333333"/>
                </a:solidFill>
                <a:latin typeface="Segoe UI"/>
              </a:rPr>
              <a:t> Principal Content Designer at Microsoft Fabric, leading content design for data engineering experiences used by millions of users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Segoe UI"/>
              </a:rPr>
              <a:t>AI practitioner:</a:t>
            </a:r>
            <a:r>
              <a:rPr sz="1500">
                <a:solidFill>
                  <a:srgbClr val="333333"/>
                </a:solidFill>
                <a:latin typeface="Segoe UI"/>
              </a:rPr>
              <a:t> I design AI-powered features professionally. Every reading, framework, and exercise in this course connects to real decisions I make weekly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Segoe UI"/>
              </a:rPr>
              <a:t>Workshop-tested pedagogy:</a:t>
            </a:r>
            <a:r>
              <a:rPr sz="1500">
                <a:solidFill>
                  <a:srgbClr val="333333"/>
                </a:solidFill>
                <a:latin typeface="Segoe UI"/>
              </a:rPr>
              <a:t> The exercises in this course evolved from workshops I ran for 100+ designers. I know which activities generate insight and which generate confusion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Segoe UI"/>
              </a:rPr>
              <a:t>Industry currency:</a:t>
            </a:r>
            <a:r>
              <a:rPr sz="1500">
                <a:solidFill>
                  <a:srgbClr val="333333"/>
                </a:solidFill>
                <a:latin typeface="Segoe UI"/>
              </a:rPr>
              <a:t> I work at the frontier of AI UX daily. The course stays current because my work stays current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333333"/>
                </a:solidFill>
                <a:latin typeface="Segoe UI"/>
              </a:rPr>
              <a:t>Content architecture:</a:t>
            </a:r>
            <a:r>
              <a:rPr sz="1500">
                <a:solidFill>
                  <a:srgbClr val="333333"/>
                </a:solidFill>
                <a:latin typeface="Segoe UI"/>
              </a:rPr>
              <a:t> 6+ years of professional learning design and information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003478"/>
                </a:solidFill>
                <a:latin typeface="Segoe UI"/>
              </a:defRPr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Teaching and Community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999999"/>
                </a:solidFill>
                <a:latin typeface="Segoe UI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Career pipeline: curriculum developer to adjunct professor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rgbClr val="999999"/>
                </a:solidFill>
                <a:latin typeface="Segoe UI"/>
              </a:defRPr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003478"/>
                </a:solidFill>
                <a:latin typeface="Segoe UI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Portfolio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371600" cy="508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sz="1300" b="0" i="0" u="sng" strike="noStrike" kern="1200" cap="none" spc="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2"/>
              </a:rPr>
              <a:t>Course development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sz="1300" b="0" i="0" u="sng" strike="noStrike" kern="1200" cap="none" spc="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3"/>
              </a:rPr>
              <a:t>Speaking events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sz="1300" b="0" i="0" u="sng" strike="noStrike" kern="1200" cap="none" spc="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AI systems, tools, and framework</a:t>
            </a: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shipped at enterprise scale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Expertise in </a:t>
            </a:r>
            <a:r>
              <a:rPr kumimoji="0" sz="1300" b="0" i="0" u="sng" strike="noStrike" kern="1200" cap="none" spc="0" normalizeH="0" baseline="0" noProof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/>
              </a:rPr>
              <a:t>AI and agentic experiences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03520" cy="47548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003478"/>
                </a:solidFill>
                <a:latin typeface="Segoe UI"/>
              </a:defRPr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00347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Recent Engagements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011680"/>
            <a:ext cx="1371600" cy="508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Panelist at the Red Bull Hackathon 2026, </a:t>
            </a:r>
            <a:r>
              <a:rPr kumimoji="0" sz="1300" b="0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6"/>
              </a:rPr>
              <a:t>speaking to 100+ Northeastern University students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3X Community moderator for the </a:t>
            </a:r>
            <a:r>
              <a:rPr kumimoji="0" sz="1300" b="0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7"/>
              </a:rPr>
              <a:t>online educational series "Microsoft Reactor"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In-person hackathon judge for </a:t>
            </a:r>
            <a:r>
              <a:rPr kumimoji="0" sz="1300" b="0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8"/>
              </a:rPr>
              <a:t>Boston University's "DS + X Hackathon 2025"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sz="1300" b="0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9"/>
              </a:rPr>
              <a:t>AI + UX mentor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at UXPA Boston 2026 Conference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Panelist at </a:t>
            </a:r>
            <a:r>
              <a:rPr kumimoji="0" sz="1300" b="0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0"/>
              </a:rPr>
              <a:t>Carnegie Mellon University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for the online graduate program in Data Science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TA for </a:t>
            </a:r>
            <a:r>
              <a:rPr kumimoji="0" sz="1300" b="0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1"/>
              </a:rPr>
              <a:t>Microsoft Azure Data University's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data engineering course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sz="1300" b="0" i="0" u="sng" strike="noStrike" kern="1200" cap="none" spc="0" normalizeH="0" baseline="0" noProof="0" dirty="0">
                <a:ln>
                  <a:noFill/>
                </a:ln>
                <a:solidFill>
                  <a:srgbClr val="4285F4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12"/>
              </a:rPr>
              <a:t>Keynote at Python Software Foundation's</a:t>
            </a: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Boston chapter, teaching "Beginner's Guide to GitHub"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The Gap This Course Fills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478"/>
                </a:solidFill>
                <a:latin typeface="Segoe UI"/>
              </a:defRPr>
            </a:pPr>
            <a:r>
              <a:t>No course in the RUCD program addresses AI as both</a:t>
            </a:r>
            <a:br/>
            <a:r>
              <a:t>a design material and a design challenge.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371600" cy="508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515600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Segoe UI"/>
              </a:rPr>
              <a:t>Working professionals need </a:t>
            </a:r>
            <a:r>
              <a:rPr sz="1600" b="1" dirty="0">
                <a:solidFill>
                  <a:srgbClr val="333333"/>
                </a:solidFill>
                <a:latin typeface="Segoe UI"/>
              </a:rPr>
              <a:t>practitioner judgment</a:t>
            </a:r>
            <a:r>
              <a:rPr sz="1600" dirty="0">
                <a:solidFill>
                  <a:srgbClr val="333333"/>
                </a:solidFill>
                <a:latin typeface="Segoe UI"/>
              </a:rPr>
              <a:t>, not academic theory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Segoe UI"/>
              </a:rPr>
              <a:t>AI is transforming every UX discipline: research, prototyping, accessibility, IA, design processes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Segoe UI"/>
              </a:rPr>
              <a:t>Students need a </a:t>
            </a:r>
            <a:r>
              <a:rPr sz="1600" b="1" dirty="0">
                <a:solidFill>
                  <a:srgbClr val="333333"/>
                </a:solidFill>
                <a:latin typeface="Segoe UI"/>
              </a:rPr>
              <a:t>vocabulary for AI </a:t>
            </a:r>
            <a:r>
              <a:rPr sz="1600" dirty="0">
                <a:solidFill>
                  <a:srgbClr val="333333"/>
                </a:solidFill>
                <a:latin typeface="Segoe UI"/>
              </a:rPr>
              <a:t>that goes beyond "it's magic" or "it's hype"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Segoe UI"/>
              </a:rPr>
              <a:t>RUCD 125 works as an early elective (giving students an AI lens) or a late elective (synthesizing program knowledge through an AI perspective)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dirty="0">
                <a:solidFill>
                  <a:srgbClr val="333333"/>
                </a:solidFill>
                <a:latin typeface="Segoe UI"/>
              </a:rPr>
              <a:t>Every reading reflects a </a:t>
            </a:r>
            <a:r>
              <a:rPr sz="1600" b="1" dirty="0">
                <a:solidFill>
                  <a:srgbClr val="333333"/>
                </a:solidFill>
                <a:latin typeface="Segoe UI"/>
              </a:rPr>
              <a:t>real design problem encountered in professional practice</a:t>
            </a:r>
            <a:r>
              <a:rPr sz="1600" dirty="0">
                <a:solidFill>
                  <a:srgbClr val="333333"/>
                </a:solidFill>
                <a:latin typeface="Segoe UI"/>
              </a:rPr>
              <a:t>. Relevance to the work trumped academic pedigree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Course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478"/>
                </a:solidFill>
                <a:latin typeface="Segoe UI"/>
              </a:defRPr>
            </a:pPr>
            <a:r>
              <a:t>1. Evaluate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AI products using HCAI, HAX Guidelines, and PAIR frameworks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515600" cy="127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478"/>
                </a:solidFill>
                <a:latin typeface="Segoe UI"/>
              </a:defRPr>
            </a:pPr>
            <a:r>
              <a:t>2.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9456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ethical dimensions: bias, transparency, accountability, environmental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10515600" cy="127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478"/>
                </a:solidFill>
                <a:latin typeface="Segoe UI"/>
              </a:defRPr>
            </a:pPr>
            <a:r>
              <a:t>3.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718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interaction patterns that calibrate user trust for AI uncertainty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66160"/>
            <a:ext cx="10515600" cy="127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478"/>
                </a:solidFill>
                <a:latin typeface="Segoe UI"/>
              </a:defRPr>
            </a:pPr>
            <a:r>
              <a:t>4. Critique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490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AI-augmented research methods; identify where human judgment remains essential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43400"/>
            <a:ext cx="10515600" cy="127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478"/>
                </a:solidFill>
                <a:latin typeface="Segoe UI"/>
              </a:defRPr>
            </a:pPr>
            <a:r>
              <a:t>5. Create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5262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inclusive AI experiences with accessibility as infrastructure, not afterthought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20640"/>
            <a:ext cx="10515600" cy="127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478"/>
                </a:solidFill>
                <a:latin typeface="Segoe UI"/>
              </a:defRPr>
            </a:pPr>
            <a:r>
              <a:t>6. Synthesize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035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Segoe UI"/>
              </a:defRPr>
            </a:pPr>
            <a:r>
              <a:t>course frameworks into a portfolio-ready evaluation and redesign proposal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8-Week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8251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0195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810512"/>
            <a:ext cx="1097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Trust </a:t>
            </a:r>
            <a:br>
              <a:rPr lang="en-US" dirty="0"/>
            </a:br>
            <a:r>
              <a:rPr dirty="0"/>
              <a:t>&amp;</a:t>
            </a:r>
            <a:br>
              <a:rPr dirty="0"/>
            </a:br>
            <a:r>
              <a:rPr dirty="0"/>
              <a:t>Mental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90195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10512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GenAI as</a:t>
            </a:r>
            <a:br/>
            <a:r>
              <a:t>Design Material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0195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810512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AI-Augmented</a:t>
            </a:r>
            <a:br/>
            <a:r>
              <a:t>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90195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1810512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Ethics, Bias</a:t>
            </a:r>
            <a:br/>
            <a:r>
              <a:t>&amp; RAI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90195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2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810512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Transparency</a:t>
            </a:r>
            <a:br/>
            <a:r>
              <a:t>&amp; Explainability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190195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1810512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Inclusive &amp;</a:t>
            </a:r>
            <a:br/>
            <a:r>
              <a:t>Accessible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901952"/>
            <a:ext cx="137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12680" y="1399032"/>
            <a:ext cx="1188720" cy="14630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12680" y="149047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100"/>
                </a:solidFill>
                <a:latin typeface="Segoe UI"/>
              </a:defRPr>
            </a:pPr>
            <a:r>
              <a:t>Wk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1810512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Synthesis &amp;</a:t>
            </a:r>
            <a:br/>
            <a:r>
              <a:t>Agentic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468880"/>
            <a:ext cx="914400" cy="3200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0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478"/>
                </a:solidFill>
                <a:latin typeface="Segoe UI"/>
              </a:defRPr>
            </a:pPr>
            <a:r>
              <a:rPr dirty="0"/>
              <a:t>Applied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468880"/>
            <a:ext cx="914400" cy="3200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478"/>
                </a:solidFill>
                <a:latin typeface="Segoe UI"/>
              </a:defRPr>
            </a:pPr>
            <a:r>
              <a:t>Applied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2468880"/>
            <a:ext cx="914400" cy="3200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0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478"/>
                </a:solidFill>
                <a:latin typeface="Segoe UI"/>
              </a:defRPr>
            </a:pPr>
            <a:r>
              <a:t>Applied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2468880"/>
            <a:ext cx="914400" cy="32004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49840" y="24963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478"/>
                </a:solidFill>
                <a:latin typeface="Segoe UI"/>
              </a:defRPr>
            </a:pPr>
            <a:r>
              <a:t>Capstone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87911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8 weeks  |  6 pages per week  |  48 total pages  |  32 videos  |  4 graded submissions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385536"/>
              </p:ext>
            </p:extLst>
          </p:nvPr>
        </p:nvGraphicFramePr>
        <p:xfrm>
          <a:off x="1272894" y="3255264"/>
          <a:ext cx="915853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2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04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Readings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Key Exercise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Shneiderman HCAI; Mitchell AI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AI Assumption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Amershi HAX Guidelines (CHI 2019); Norman DOET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HAX Guideline Mapping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Mollick Co-Intelligence; NNG AI/UX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Cyborg vs. Centaur Challenge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Lew &amp; Schumacher AI for UX; </a:t>
                      </a:r>
                      <a:r>
                        <a:rPr dirty="0" err="1"/>
                        <a:t>Portigal</a:t>
                      </a:r>
                      <a:r>
                        <a:rPr dirty="0"/>
                        <a:t> Interviewing Users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AI Research Partner Brief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Crawford Atlas of AI; Costanza-Chock Design Justice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Bias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Shneiderman HCAI Ch 7-9; Ammanath Trustworthy AI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Three Levels of Disclosure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Treviranus Writings; W3C AI Accessibility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Accessibility Risk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Agrawal Power &amp; Prediction; NNG AI Agent Definition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Designer's Manifesto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Where RUCD 125 Fits in the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The only course addressing AI as design material and design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Existing Course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Students Learn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What RUCD 125 Adds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RUCD 101 - UX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UCD process, design thinking, Lean UX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How AI changes the UCD process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RUCD 120 - Human Factors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Cognitive/perceptual principles, inclusive UI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Trust calibration specific to AI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RUCD 130 - Info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Organizing information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IA challenges unique to AI (dynamic content, explainability)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RUCD 140 - Research Methods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Qualitative/quantitative research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AI-augmented research, new validity questions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RUCD 175 - Inclusive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Accessibility, assistive tech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AI-specific accessibility risks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RUCD 135 - Tech Futures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Strategic foresight, speculative design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Grounded in current AI capabilities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RUCD 180 - UX Processes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Agile, Lean, SAFe, stakeholder buy-in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How AI changes team workflows and roles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The 6-Page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How each week works: a guided, sequential learning path</a:t>
            </a:r>
            <a:r>
              <a:rPr lang="en-US" dirty="0"/>
              <a:t> in Moodle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737360" cy="41148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1737360" cy="5486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100"/>
                </a:solidFill>
                <a:latin typeface="Segoe UI"/>
              </a:defRPr>
            </a:pPr>
            <a:r>
              <a:t>Page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Objectives,</a:t>
            </a:r>
            <a:br/>
            <a:r>
              <a:t>time estimate,</a:t>
            </a:r>
            <a:br/>
            <a:r>
              <a:t>week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1554480" cy="64008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Intro Video</a:t>
            </a:r>
            <a:br>
              <a:rPr dirty="0"/>
            </a:br>
            <a:r>
              <a:rPr lang="en-US" dirty="0"/>
              <a:t>(5-15 minutes)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99"/>
                </a:solidFill>
                <a:latin typeface="Segoe UI"/>
              </a:defRPr>
            </a:pPr>
            <a:r>
              <a:t>Completion: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478"/>
                </a:solidFill>
                <a:latin typeface="Segoe UI"/>
              </a:defRPr>
            </a:pPr>
            <a:r>
              <a:t>Mark</a:t>
            </a:r>
            <a:br/>
            <a:r>
              <a:t>as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1645920"/>
            <a:ext cx="1737360" cy="41148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0" y="1645920"/>
            <a:ext cx="1737360" cy="5486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100"/>
                </a:solidFill>
                <a:latin typeface="Segoe UI"/>
              </a:defRPr>
            </a:pPr>
            <a:r>
              <a:t>Page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Reading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3317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Why this reading</a:t>
            </a:r>
            <a:br/>
            <a:r>
              <a:t>matters, what</a:t>
            </a:r>
            <a:br/>
            <a:r>
              <a:t>to look for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3383280"/>
            <a:ext cx="1554480" cy="64008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342900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Reading Guide</a:t>
            </a:r>
            <a:br>
              <a:rPr dirty="0"/>
            </a:br>
            <a:r>
              <a:rPr lang="en-US" dirty="0"/>
              <a:t>(5-15 minutes)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2377440" y="4160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99"/>
                </a:solidFill>
                <a:latin typeface="Segoe UI"/>
              </a:defRPr>
            </a:pPr>
            <a:r>
              <a:t>Completion: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89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478"/>
                </a:solidFill>
                <a:latin typeface="Segoe UI"/>
              </a:defRPr>
            </a:pPr>
            <a:r>
              <a:t>Submit</a:t>
            </a:r>
            <a:br/>
            <a:r>
              <a:t>reflection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645920"/>
            <a:ext cx="1737360" cy="41148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06240" y="1645920"/>
            <a:ext cx="1737360" cy="5486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100"/>
                </a:solidFill>
                <a:latin typeface="Segoe UI"/>
              </a:defRPr>
            </a:pPr>
            <a:r>
              <a:t>Page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Reading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3317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How it connects</a:t>
            </a:r>
            <a:br/>
            <a:r>
              <a:t>to Reading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383280"/>
            <a:ext cx="1554480" cy="64008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0" y="342900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Reading Guide</a:t>
            </a:r>
            <a:br>
              <a:rPr dirty="0"/>
            </a:br>
            <a:r>
              <a:rPr lang="en-US" dirty="0"/>
              <a:t>(5-15 minutes)</a:t>
            </a: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4297680" y="4160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99"/>
                </a:solidFill>
                <a:latin typeface="Segoe UI"/>
              </a:defRPr>
            </a:pPr>
            <a:r>
              <a:t>Completion: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389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478"/>
                </a:solidFill>
                <a:latin typeface="Segoe UI"/>
              </a:defRPr>
            </a:pPr>
            <a:r>
              <a:t>Submit</a:t>
            </a:r>
            <a:br/>
            <a:r>
              <a:t>reflection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645920"/>
            <a:ext cx="1737360" cy="41148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26480" y="1645920"/>
            <a:ext cx="1737360" cy="5486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100"/>
                </a:solidFill>
                <a:latin typeface="Segoe UI"/>
              </a:defRPr>
            </a:pPr>
            <a:r>
              <a:t>Page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1874520"/>
            <a:ext cx="1737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Industry</a:t>
            </a:r>
            <a:r>
              <a:rPr lang="en-US" dirty="0"/>
              <a:t> </a:t>
            </a:r>
            <a:r>
              <a:rPr dirty="0"/>
              <a:t>Spotlight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3317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Real-world</a:t>
            </a:r>
            <a:br/>
            <a:r>
              <a:t>practice</a:t>
            </a:r>
            <a:br/>
            <a:r>
              <a:t>connections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383280"/>
            <a:ext cx="1554480" cy="6400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17920" y="342900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Segoe UI"/>
              </a:defRPr>
            </a:pPr>
            <a:r>
              <a:rPr lang="en-US" dirty="0"/>
              <a:t>No video</a:t>
            </a:r>
            <a:br>
              <a:rPr dirty="0"/>
            </a:br>
            <a:r>
              <a:rPr dirty="0"/>
              <a:t>(text only)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160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99"/>
                </a:solidFill>
                <a:latin typeface="Segoe UI"/>
              </a:defRPr>
            </a:pPr>
            <a:r>
              <a:t>Completion: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389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478"/>
                </a:solidFill>
                <a:latin typeface="Segoe UI"/>
              </a:defRPr>
            </a:pPr>
            <a:r>
              <a:t>Mark</a:t>
            </a:r>
            <a:br/>
            <a:r>
              <a:t>as read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1645920"/>
            <a:ext cx="1737360" cy="41148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1645920"/>
            <a:ext cx="1737360" cy="5486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2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100"/>
                </a:solidFill>
                <a:latin typeface="Segoe UI"/>
              </a:defRPr>
            </a:pPr>
            <a:r>
              <a:t>Page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Exercise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23317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Full instructions,</a:t>
            </a:r>
            <a:br/>
            <a:r>
              <a:t>scaffolding,</a:t>
            </a:r>
            <a:br/>
            <a:r>
              <a:t>forum post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3383280"/>
            <a:ext cx="1554480" cy="6400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38160" y="342900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Segoe UI"/>
              </a:defRPr>
            </a:pPr>
            <a:r>
              <a:rPr lang="en-US" dirty="0"/>
              <a:t>No video</a:t>
            </a:r>
            <a:br>
              <a:rPr dirty="0"/>
            </a:br>
            <a:r>
              <a:rPr dirty="0"/>
              <a:t>(text only)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4160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99"/>
                </a:solidFill>
                <a:latin typeface="Segoe UI"/>
              </a:defRPr>
            </a:pPr>
            <a:r>
              <a:t>Completion: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389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478"/>
                </a:solidFill>
                <a:latin typeface="Segoe UI"/>
              </a:defRPr>
            </a:pPr>
            <a:r>
              <a:t>Post to</a:t>
            </a:r>
            <a:br/>
            <a:r>
              <a:t>forum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408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3478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1645920"/>
            <a:ext cx="1737360" cy="411480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966960" y="1645920"/>
            <a:ext cx="1737360" cy="54864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66960" y="16916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D100"/>
                </a:solidFill>
                <a:latin typeface="Segoe UI"/>
              </a:defRPr>
            </a:pPr>
            <a:r>
              <a:t>Page 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6696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Wrap-Up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233172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Segoe UI"/>
              </a:defRPr>
            </a:pPr>
            <a:r>
              <a:t>Key takeaways,</a:t>
            </a:r>
            <a:br/>
            <a:r>
              <a:t>preview of</a:t>
            </a:r>
            <a:br/>
            <a:r>
              <a:t>next week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0" y="3383280"/>
            <a:ext cx="1554480" cy="640080"/>
          </a:xfrm>
          <a:prstGeom prst="rect">
            <a:avLst/>
          </a:prstGeom>
          <a:solidFill>
            <a:srgbClr val="FE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058400" y="3429000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Wrap-Up</a:t>
            </a:r>
            <a:br>
              <a:rPr dirty="0"/>
            </a:br>
            <a:r>
              <a:rPr lang="en-US" dirty="0"/>
              <a:t>(5-10 minutes)</a:t>
            </a:r>
            <a:endParaRPr dirty="0"/>
          </a:p>
        </p:txBody>
      </p:sp>
      <p:sp>
        <p:nvSpPr>
          <p:cNvPr id="63" name="TextBox 62"/>
          <p:cNvSpPr txBox="1"/>
          <p:nvPr/>
        </p:nvSpPr>
        <p:spPr>
          <a:xfrm>
            <a:off x="10058400" y="4160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99999"/>
                </a:solidFill>
                <a:latin typeface="Segoe UI"/>
              </a:defRPr>
            </a:pPr>
            <a:r>
              <a:t>Completion: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4389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3478"/>
                </a:solidFill>
                <a:latin typeface="Segoe UI"/>
              </a:defRPr>
            </a:pPr>
            <a:r>
              <a:t>Mark</a:t>
            </a:r>
            <a:br/>
            <a:r>
              <a:t>as read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Sequential gating: each page unlocks only after the previous page's completion condition is met. </a:t>
            </a:r>
            <a:br>
              <a:rPr lang="en-US" dirty="0"/>
            </a:br>
            <a:r>
              <a:rPr dirty="0"/>
              <a:t>Consistent across all 8 weeks so students learn the rhythm quickly.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Sample Week: Week 1 -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What AI actually is. Not the marketing version. Not the sci-fi version.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579620"/>
              </p:ext>
            </p:extLst>
          </p:nvPr>
        </p:nvGraphicFramePr>
        <p:xfrm>
          <a:off x="274320" y="1371600"/>
          <a:ext cx="116128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Title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Student-Facing Content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Welcome to 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"What is AI, really? You'll read two foundational texts. Shneiderman keeps humans in control. Mitchell explains what AI does under the hood."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Watch Intro vide</a:t>
                      </a:r>
                      <a:r>
                        <a:rPr lang="en-US" dirty="0"/>
                        <a:t>o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Reading: Shneiderman HCAI (Ch 1-3)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Two-dimensional framework: automation vs. human control. They aren't opposites. Most AI products live in the wrong quadrant.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Submit reflection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Reading: Mitchell AI Guide (Ch 1-2,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How machine learning, neural networks, and language models work in plain language. What AI can and cannot 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Submit reflection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Industry Spotlight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Google PAIR Guidebook, MS HAX Toolkit, NNG AI and UX, Apple HIG Machine Learning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Mark as read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Exercise: AI Assumption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List 5 assumptions about AI. Flag each as confirmed, busted, or complicated. Post to forum by Wed, respond to 2 peers by Fri.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Forum post + peer responses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Week 1 Wrap-Up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Key takeaways, preview of Week 2 (trust and mental models), engagement moment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Watch Wrap-Up video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Assessment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Applied design judgment over information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651760" cy="3840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1645920"/>
            <a:ext cx="1371600" cy="10972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478"/>
                </a:solidFill>
                <a:latin typeface="Segoe UI"/>
              </a:defRPr>
            </a:pPr>
            <a:r>
              <a:t>Weekly Discussion Posts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Weeks 1-8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49040"/>
            <a:ext cx="23774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Post by Wednesday, respond to 2 peers by Friday.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Assessed on evidence-based reasoning and</a:t>
            </a:r>
            <a:r>
              <a:rPr lang="en-US" dirty="0"/>
              <a:t> </a:t>
            </a:r>
            <a:r>
              <a:rPr dirty="0"/>
              <a:t>engagement with peers' ideas.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63040"/>
            <a:ext cx="2651760" cy="3840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31920" y="1645920"/>
            <a:ext cx="1371600" cy="10972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34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478"/>
                </a:solidFill>
                <a:latin typeface="Segoe UI"/>
              </a:defRPr>
            </a:pPr>
            <a:r>
              <a:t>Applied Exercises (3)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Weeks 4, 5,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749040"/>
            <a:ext cx="24472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AI Research Partner Brief (</a:t>
            </a:r>
            <a:r>
              <a:rPr dirty="0" err="1"/>
              <a:t>Wk</a:t>
            </a:r>
            <a:r>
              <a:rPr dirty="0"/>
              <a:t> 4)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Bias Audit (</a:t>
            </a:r>
            <a:r>
              <a:rPr dirty="0" err="1"/>
              <a:t>Wk</a:t>
            </a:r>
            <a:r>
              <a:rPr dirty="0"/>
              <a:t> 5)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Three Levels of Disclosure (</a:t>
            </a:r>
            <a:r>
              <a:rPr dirty="0" err="1"/>
              <a:t>Wk</a:t>
            </a:r>
            <a:r>
              <a:rPr dirty="0"/>
              <a:t> 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2651760" cy="3840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66560" y="1645920"/>
            <a:ext cx="1371600" cy="10972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3464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478"/>
                </a:solidFill>
                <a:latin typeface="Segoe UI"/>
              </a:defRPr>
            </a:pPr>
            <a:r>
              <a:rPr dirty="0"/>
              <a:t>Capstone: </a:t>
            </a:r>
            <a:br>
              <a:rPr lang="en-US" dirty="0"/>
            </a:br>
            <a:r>
              <a:rPr dirty="0"/>
              <a:t>Designer's Manifesto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Week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749040"/>
            <a:ext cx="23774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5 evidence-grounded principles + trust reflection</a:t>
            </a:r>
            <a:br>
              <a:rPr dirty="0"/>
            </a:br>
            <a:r>
              <a:rPr dirty="0"/>
              <a:t>callback from Week 1.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Assessed on specificity,</a:t>
            </a:r>
            <a:br>
              <a:rPr dirty="0"/>
            </a:br>
            <a:r>
              <a:rPr dirty="0"/>
              <a:t>actionability, and citation quality.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463040"/>
            <a:ext cx="2651760" cy="3840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01200" y="1645920"/>
            <a:ext cx="1371600" cy="10972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0" y="173736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8346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478"/>
                </a:solidFill>
                <a:latin typeface="Segoe UI"/>
              </a:defRPr>
            </a:pPr>
            <a:r>
              <a:t>Participation &amp; Peer 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Segoe UI"/>
              </a:defRPr>
            </a:pPr>
            <a:r>
              <a:t>Ongoing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749040"/>
            <a:ext cx="23774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Quality of peer feedback across weekly</a:t>
            </a:r>
            <a:r>
              <a:rPr lang="en-US" dirty="0"/>
              <a:t> </a:t>
            </a:r>
            <a:r>
              <a:rPr dirty="0"/>
              <a:t>discussions and applied exercises.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6928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Rubric philosophy: Assessments reward design thinking over compliance. A strong post challenges the readings. </a:t>
            </a:r>
            <a:br>
              <a:rPr lang="en-US" dirty="0"/>
            </a:br>
            <a:r>
              <a:rPr dirty="0"/>
              <a:t>A strong exercise shows trade-offs. All rubrics published at course start.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Video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32 videos across 8 weeks, 3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389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6400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Weekly Intro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100"/>
                </a:solidFill>
                <a:latin typeface="Segoe UI"/>
              </a:defRPr>
            </a:pPr>
            <a:r>
              <a:rPr lang="en-US" dirty="0"/>
              <a:t>5-15</a:t>
            </a:r>
            <a:r>
              <a:rPr dirty="0"/>
              <a:t>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Orient students to the week's topic.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Connect to previous week.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Preview the exercise.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49040"/>
            <a:ext cx="32004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478"/>
                </a:solidFill>
                <a:latin typeface="Segoe UI"/>
              </a:defRPr>
            </a:pPr>
            <a:r>
              <a:t>Pre-recorded</a:t>
            </a:r>
            <a:br/>
            <a:r>
              <a:t>(24 total)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Talking head + 2-3 slides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71600"/>
            <a:ext cx="3566160" cy="4389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06240" y="1371600"/>
            <a:ext cx="3566160" cy="6400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14447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Reading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719072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100"/>
                </a:solidFill>
                <a:latin typeface="Segoe UI"/>
              </a:defRPr>
            </a:pPr>
            <a:r>
              <a:rPr lang="en-US" dirty="0"/>
              <a:t>5-15 min</a:t>
            </a:r>
            <a:r>
              <a:rPr dirty="0"/>
              <a:t> each</a:t>
            </a:r>
            <a:r>
              <a:rPr lang="en-US" dirty="0"/>
              <a:t> </a:t>
            </a:r>
            <a:r>
              <a:rPr dirty="0"/>
              <a:t>(2 per week)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3200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Frame the reading before students engage.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Not a summary. A lens.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lang="en-US" dirty="0"/>
              <a:t>Highlight </a:t>
            </a:r>
            <a:r>
              <a:rPr dirty="0"/>
              <a:t>2-3 things to watch for.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749040"/>
            <a:ext cx="32004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478"/>
                </a:solidFill>
                <a:latin typeface="Segoe UI"/>
              </a:defRPr>
            </a:pPr>
            <a:r>
              <a:t>Pre-recorded</a:t>
            </a:r>
            <a:br/>
            <a:r>
              <a:t>(16 total)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72000"/>
            <a:ext cx="3200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Talking head + diagrams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371600"/>
            <a:ext cx="3566160" cy="43891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55279" y="1371600"/>
            <a:ext cx="3566160" cy="64008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14447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Weekly Wrap-Up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1719072"/>
            <a:ext cx="3566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100"/>
                </a:solidFill>
                <a:latin typeface="Segoe UI"/>
              </a:defRPr>
            </a:pPr>
            <a:r>
              <a:rPr lang="en-US" dirty="0"/>
              <a:t>5-10</a:t>
            </a:r>
            <a:r>
              <a:rPr dirty="0"/>
              <a:t>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214884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Synthesize student work.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Reference 2-3 specific contributions.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333333"/>
                </a:solidFill>
                <a:latin typeface="Segoe UI"/>
              </a:defRPr>
            </a:pPr>
            <a:r>
              <a:rPr dirty="0"/>
              <a:t>Preview next week.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9" y="3749040"/>
            <a:ext cx="32004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59" y="39319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3478"/>
                </a:solidFill>
                <a:latin typeface="Segoe UI"/>
              </a:defRPr>
            </a:pPr>
            <a:r>
              <a:t>Recorded live</a:t>
            </a:r>
            <a:br/>
            <a:r>
              <a:t>(8 total)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572000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Talking head only.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No slides. Personal.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Segoe UI"/>
              </a:defRPr>
            </a:pPr>
            <a:r>
              <a:rPr dirty="0"/>
              <a:t>Total: 24 pre-recorded before launch  +  8 recorded weekly during the course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Instructor Presence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rPr dirty="0"/>
              <a:t>A weekly rhythm of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Activity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Details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Weekly Intro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Monday (auto-release)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Pre-recorded. Students see it when the new week opens.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Forum monitoring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Tuesday - Friday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Read and note emerging threads. Do not dominate.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Forum responses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Within 48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Substantive replies, not "great point!" Reply to stuck students.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Wrap-Up video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Uploaded by Sunday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References 2-3 specific student contributions by name.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Grade/feedback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Within 1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Individual rubric-based feedback for graded assignments.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478"/>
                </a:solidFill>
                <a:latin typeface="Segoe UI"/>
              </a:defRPr>
            </a:pPr>
            <a:r>
              <a:t>Beyond the Weekly Rhythm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Welcome announcement:</a:t>
            </a:r>
            <a:r>
              <a:rPr sz="1300">
                <a:solidFill>
                  <a:srgbClr val="333333"/>
                </a:solidFill>
                <a:latin typeface="Segoe UI"/>
              </a:rPr>
              <a:t> before Week 1 opens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Mid-course survey:</a:t>
            </a:r>
            <a:r>
              <a:rPr sz="1300">
                <a:solidFill>
                  <a:srgbClr val="333333"/>
                </a:solidFill>
                <a:latin typeface="Segoe UI"/>
              </a:rPr>
              <a:t> Week 4 (pace, workload, clarity)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Group office hours:</a:t>
            </a:r>
            <a:r>
              <a:rPr sz="1300">
                <a:solidFill>
                  <a:srgbClr val="333333"/>
                </a:solidFill>
                <a:latin typeface="Segoe UI"/>
              </a:rPr>
              <a:t> Weeks 3 and 6 (optional live Zoom)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Office hours by appointment:</a:t>
            </a:r>
            <a:r>
              <a:rPr sz="1300">
                <a:solidFill>
                  <a:srgbClr val="333333"/>
                </a:solidFill>
                <a:latin typeface="Segoe UI"/>
              </a:rPr>
              <a:t> ongoing (Calendly)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End-of-course survey:</a:t>
            </a:r>
            <a:r>
              <a:rPr sz="1300">
                <a:solidFill>
                  <a:srgbClr val="333333"/>
                </a:solidFill>
                <a:latin typeface="Segoe UI"/>
              </a:rPr>
              <a:t> Week 8 (standard GPS eval + custom questions)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Moodle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478"/>
                </a:solidFill>
                <a:latin typeface="Segoe UI"/>
              </a:defRPr>
            </a:pPr>
            <a:r>
              <a:t>Technical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Format:</a:t>
            </a:r>
            <a:r>
              <a:rPr sz="1300">
                <a:solidFill>
                  <a:srgbClr val="333333"/>
                </a:solidFill>
                <a:latin typeface="Segoe UI"/>
              </a:rPr>
              <a:t> Topics format, one section per week (8 sections)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Pages:</a:t>
            </a:r>
            <a:r>
              <a:rPr sz="1300">
                <a:solidFill>
                  <a:srgbClr val="333333"/>
                </a:solidFill>
                <a:latin typeface="Segoe UI"/>
              </a:rPr>
              <a:t> 6 Moodle Page activities per section, sequential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Activity Completion:</a:t>
            </a:r>
            <a:r>
              <a:rPr sz="1300">
                <a:solidFill>
                  <a:srgbClr val="333333"/>
                </a:solidFill>
                <a:latin typeface="Segoe UI"/>
              </a:rPr>
              <a:t> automatic (mark-as-read or submit-reflection)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Restrict Access:</a:t>
            </a:r>
            <a:r>
              <a:rPr sz="1300">
                <a:solidFill>
                  <a:srgbClr val="333333"/>
                </a:solidFill>
                <a:latin typeface="Segoe UI"/>
              </a:rPr>
              <a:t> each page requires previous page completion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Forums:</a:t>
            </a:r>
            <a:r>
              <a:rPr sz="1300">
                <a:solidFill>
                  <a:srgbClr val="333333"/>
                </a:solidFill>
                <a:latin typeface="Segoe UI"/>
              </a:rPr>
              <a:t> one per week, standard forum for general use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Assignments:</a:t>
            </a:r>
            <a:r>
              <a:rPr sz="1300">
                <a:solidFill>
                  <a:srgbClr val="333333"/>
                </a:solidFill>
                <a:latin typeface="Segoe UI"/>
              </a:rPr>
              <a:t> 4 graded file uploads (Weeks 4, 5, 6, 8)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Video hosting:</a:t>
            </a:r>
            <a:r>
              <a:rPr sz="1300">
                <a:solidFill>
                  <a:srgbClr val="333333"/>
                </a:solidFill>
                <a:latin typeface="Segoe UI"/>
              </a:rPr>
              <a:t> Moodle embed or Kaltura (if institutional license)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Segoe UI"/>
              </a:rPr>
              <a:t>Captions:</a:t>
            </a:r>
            <a:r>
              <a:rPr sz="1300">
                <a:solidFill>
                  <a:srgbClr val="333333"/>
                </a:solidFill>
                <a:latin typeface="Segoe UI"/>
              </a:rPr>
              <a:t> required on all 32 videos (auto-generated + reviewed)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478"/>
                </a:solidFill>
                <a:latin typeface="Segoe UI"/>
              </a:defRPr>
            </a:pPr>
            <a:r>
              <a:t>Gradebook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82880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Items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Weekly Posts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 forum contributions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Applied Exercises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 assignments (Wk 4, 5, 6)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Capstone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Designer's Manifesto (Wk 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Participation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Peer engagement quality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478"/>
                </a:solidFill>
                <a:latin typeface="Segoe UI"/>
              </a:defRPr>
            </a:pPr>
            <a:r>
              <a:t>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Segoe UI"/>
              </a:rPr>
              <a:t>All videos captioned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Segoe UI"/>
              </a:rPr>
              <a:t>All images have alt text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Segoe UI"/>
              </a:rPr>
              <a:t>Consistent heading structure (H1/H2)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Segoe UI"/>
              </a:rPr>
              <a:t>Rubrics published before assignments open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Segoe UI"/>
              </a:rPr>
              <a:t>Color never the only information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rPr lang="en-US" dirty="0"/>
              <a:t>Draft </a:t>
            </a:r>
            <a:r>
              <a:rPr dirty="0"/>
              <a:t>Timeline: Scenario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Summer build, Fall 2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Kickoff +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Jul 13 - Jul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91640"/>
            <a:ext cx="1110342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1103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rPr dirty="0"/>
              <a:t>Content Build: 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Jul 28 - Aug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5062" y="2514600"/>
            <a:ext cx="2220685" cy="45720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5062" y="2560320"/>
            <a:ext cx="22206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Content Build: Weeks 5-8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611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Aug 25 - Sep 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05748" y="3337560"/>
            <a:ext cx="2220685" cy="45720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05748" y="3383280"/>
            <a:ext cx="22206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Video Recording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434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Sep 22 - Oct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6434" y="4160520"/>
            <a:ext cx="1110342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6434" y="4206240"/>
            <a:ext cx="11103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Moodle Build +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57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Oct 6 - Oct 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6777" y="4983480"/>
            <a:ext cx="1110342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36777" y="5029200"/>
            <a:ext cx="11103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760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478"/>
                </a:solidFill>
                <a:latin typeface="Segoe UI"/>
              </a:defRPr>
            </a:pPr>
            <a:r>
              <a:t>Course Launch: Oct 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201399" y="1371600"/>
            <a:ext cx="91440" cy="48463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599" y="63322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100"/>
                </a:solidFill>
                <a:latin typeface="Segoe UI"/>
              </a:defRPr>
            </a:pPr>
            <a:r>
              <a:rPr dirty="0"/>
              <a:t>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rPr lang="en-US" dirty="0"/>
              <a:t>Draft </a:t>
            </a:r>
            <a:r>
              <a:rPr dirty="0"/>
              <a:t>Timeline: Scenario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Segoe UI"/>
              </a:defRPr>
            </a:pPr>
            <a:r>
              <a:t>Fall build, Spring 1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Kickoff +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65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Oct 5 - Oct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91640"/>
            <a:ext cx="1110342" cy="457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737360"/>
            <a:ext cx="11103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Content Build: 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Oct 20 - Nov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85062" y="2514600"/>
            <a:ext cx="2220685" cy="45720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5062" y="2560320"/>
            <a:ext cx="22206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Content Build: Weeks 5-8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611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Nov 17 - Dec 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05748" y="3337560"/>
            <a:ext cx="2220685" cy="457200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05748" y="3383280"/>
            <a:ext cx="22206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 weeks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Video Recording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434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Dec 15 - Dec 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6434" y="4160520"/>
            <a:ext cx="1110342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26434" y="4206240"/>
            <a:ext cx="11103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937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Segoe UI"/>
              </a:defRPr>
            </a:pPr>
            <a:r>
              <a:t>Moodle Build +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257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Dec 29 - Jan 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36777" y="4983480"/>
            <a:ext cx="1110342" cy="4572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36777" y="5029200"/>
            <a:ext cx="11103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 weeks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6434" y="4160520"/>
            <a:ext cx="1110342" cy="457200"/>
          </a:xfrm>
          <a:prstGeom prst="rect">
            <a:avLst/>
          </a:prstGeom>
          <a:solidFill>
            <a:srgbClr val="E89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760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478"/>
                </a:solidFill>
                <a:latin typeface="Segoe UI"/>
              </a:defRPr>
            </a:pPr>
            <a:r>
              <a:t>Course Launch: Jan 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01399" y="1371600"/>
            <a:ext cx="91440" cy="48463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61319" y="63129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D100"/>
                </a:solidFill>
                <a:latin typeface="Segoe UI"/>
              </a:defRPr>
            </a:pPr>
            <a:r>
              <a:rPr dirty="0"/>
              <a:t>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C6600"/>
                </a:solidFill>
                <a:latin typeface="Segoe UI"/>
              </a:defRPr>
            </a:pPr>
            <a:r>
              <a:t>Note: Holidays fall during the video recording phase. Plan recording schedule accordingly.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478"/>
                </a:solidFill>
                <a:latin typeface="Segoe UI"/>
              </a:defRPr>
            </a:pPr>
            <a:r>
              <a:rPr dirty="0"/>
              <a:t>Student Learning Outcomes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88018"/>
              </p:ext>
            </p:extLst>
          </p:nvPr>
        </p:nvGraphicFramePr>
        <p:xfrm>
          <a:off x="457199" y="1828800"/>
          <a:ext cx="572386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4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When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Trust calibration shift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Week 1 &amp; 8 trust rating (1-5)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Pre/post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Framework application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Graded exercise rubric scores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Weeks 4, 5, 6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Synthesis 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Capstone manifesto rubric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Week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Engagement quality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Forum post depth + peer responses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Satisfaction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Mid-course + end-of-course survey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Weeks 4,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05601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478"/>
                </a:solidFill>
                <a:latin typeface="Segoe UI"/>
              </a:defRPr>
            </a:pPr>
            <a:r>
              <a:rPr dirty="0"/>
              <a:t>Instructor Effectiveness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62760"/>
              </p:ext>
            </p:extLst>
          </p:nvPr>
        </p:nvGraphicFramePr>
        <p:xfrm>
          <a:off x="6705601" y="1920240"/>
          <a:ext cx="464997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Measure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Forum response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Moodle activity logs (target: 48h)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Video engagement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Completion tracking data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Student progression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Activity completion (where stuck?)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Grade distribution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rPr dirty="0"/>
                        <a:t>Gradebook analytics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6817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478"/>
                </a:solidFill>
                <a:latin typeface="Segoe UI"/>
              </a:defRPr>
            </a:pPr>
            <a:r>
              <a:rPr dirty="0"/>
              <a:t>During Delivery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47488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Segoe UI"/>
              </a:rPr>
              <a:t>Estimated instructor time:</a:t>
            </a:r>
            <a:r>
              <a:rPr sz="1300" dirty="0">
                <a:solidFill>
                  <a:srgbClr val="333333"/>
                </a:solidFill>
                <a:latin typeface="Segoe UI"/>
              </a:rPr>
              <a:t> ~5 hours/week (forum monitoring, wrap-up video recording, grading)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Segoe UI"/>
              </a:rPr>
              <a:t>Pre-launch development:</a:t>
            </a:r>
            <a:r>
              <a:rPr sz="1300" dirty="0">
                <a:solidFill>
                  <a:srgbClr val="333333"/>
                </a:solidFill>
                <a:latin typeface="Segoe UI"/>
              </a:rPr>
              <a:t> ~10 weeks at ~10-15 hours/week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Segoe UI"/>
              </a:rPr>
              <a:t>Post-course wrap:</a:t>
            </a:r>
            <a:r>
              <a:rPr sz="1300" dirty="0">
                <a:solidFill>
                  <a:srgbClr val="333333"/>
                </a:solidFill>
                <a:latin typeface="Segoe UI"/>
              </a:rPr>
              <a:t> grade final submissions, submit evaluation summary, iterate for next offering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478"/>
                </a:solidFill>
                <a:latin typeface="Segoe UI"/>
              </a:defRPr>
            </a:pPr>
            <a:r>
              <a:rPr lang="en-US"/>
              <a:t>What I Bring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47120" cy="384048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478"/>
                </a:solidFill>
                <a:latin typeface="Segoe UI"/>
              </a:defRPr>
            </a:pPr>
            <a:r>
              <a:rPr lang="en-US"/>
              <a:t>The expertise behind RUCD 125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371600" cy="508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333333"/>
                </a:solidFill>
                <a:latin typeface="Segoe UI"/>
              </a:rPr>
              <a:t>AI design leadership at scale: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 Principal Content Designer at Microsoft Fabric, leading AI-powered UX for data engineering experiences used by millions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333333"/>
                </a:solidFill>
                <a:latin typeface="Segoe UI"/>
              </a:rPr>
              <a:t>Practitioner judgment: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 Every reading, framework, and exercise in this course connects to real decisions I make weekly designing AI features professionally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333333"/>
                </a:solidFill>
                <a:latin typeface="Segoe UI"/>
              </a:rPr>
              <a:t>Proven results: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 103 workshop participants, 83% adoption rate, and a 59% to 84% confidence lift across 8 sessions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333333"/>
                </a:solidFill>
                <a:latin typeface="Segoe UI"/>
              </a:rPr>
              <a:t>Recognized impact: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 17 hackathon teams mentored and 3 global executive awards for AI design innovation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333333"/>
                </a:solidFill>
                <a:latin typeface="Segoe UI"/>
              </a:rPr>
              <a:t>Industry currency: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 Working at the frontier of AI UX daily ensures this course stays current as the field evolves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333333"/>
                </a:solidFill>
                <a:latin typeface="Segoe UI"/>
              </a:rPr>
              <a:t>Content architecture:</a:t>
            </a:r>
            <a:r>
              <a:rPr lang="en-US" sz="1400" dirty="0">
                <a:solidFill>
                  <a:srgbClr val="333333"/>
                </a:solidFill>
                <a:latin typeface="Segoe UI"/>
              </a:rPr>
              <a:t> 6+ years structuring professional learning experiences and information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093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i="1">
                <a:solidFill>
                  <a:srgbClr val="CCCCCC"/>
                </a:solidFill>
                <a:latin typeface="Segoe UI"/>
              </a:defRPr>
            </a:pPr>
            <a:r>
              <a:t>DRAFT — FOR REVIEW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1029</TotalTime>
  <Words>2266</Words>
  <Application>Microsoft Office PowerPoint</Application>
  <PresentationFormat>Widescreen</PresentationFormat>
  <Paragraphs>408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Jen Kelleman</dc:creator>
  <cp:keywords/>
  <dc:description>generated using python-pptx</dc:description>
  <cp:lastModifiedBy>Jen Kelleman</cp:lastModifiedBy>
  <cp:revision>3</cp:revision>
  <dcterms:created xsi:type="dcterms:W3CDTF">2013-01-27T09:14:16Z</dcterms:created>
  <dcterms:modified xsi:type="dcterms:W3CDTF">2026-06-05T20:50:22Z</dcterms:modified>
  <cp:category/>
</cp:coreProperties>
</file>